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8709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os.gob.es/es/blog/errores-comunes-en-la-elaboracion-de-una-estrategia-de-dato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scene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3444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un Conjunto de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según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4023360"/>
            <a:ext cx="7148456" cy="1570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para entender su estructura, contenido y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i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Intregantes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Hazel Salazar, Anthony Molina, Rosa Vargas,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Yemil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Espinoza, Efrain Rojas.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¿Estructurado, semiestructurado o no estructurado?</a:t>
            </a:r>
            <a:endParaRPr lang="en-US" sz="3000" dirty="0"/>
          </a:p>
        </p:txBody>
      </p:sp>
      <p:pic>
        <p:nvPicPr>
          <p:cNvPr id="3" name="Image 0" descr="/home/claude/deck/sce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0200"/>
            <a:ext cx="969264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989320"/>
            <a:ext cx="2630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80698" y="5989320"/>
            <a:ext cx="2630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Semiestructurado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26957" y="5989320"/>
            <a:ext cx="26308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estructurado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tipo de información contiene?</a:t>
            </a:r>
            <a:endParaRPr lang="en-US" sz="3200" dirty="0"/>
          </a:p>
        </p:txBody>
      </p:sp>
      <p:pic>
        <p:nvPicPr>
          <p:cNvPr id="3" name="Image 0" descr="/home/claude/deck/scene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1026" name="Picture 2" descr="Ejemplo de datos semiestructurados">
            <a:extLst>
              <a:ext uri="{FF2B5EF4-FFF2-40B4-BE49-F238E27FC236}">
                <a16:creationId xmlns:a16="http://schemas.microsoft.com/office/drawing/2014/main" id="{9BB9B570-1760-4062-8332-2F61EC0C1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047" y="1489420"/>
            <a:ext cx="2358838" cy="21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urso introduccion bases de datos relacionales Coursera">
            <a:extLst>
              <a:ext uri="{FF2B5EF4-FFF2-40B4-BE49-F238E27FC236}">
                <a16:creationId xmlns:a16="http://schemas.microsoft.com/office/drawing/2014/main" id="{35E4C08D-FCA3-4AE3-96D3-020E443E8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47" y="1141178"/>
            <a:ext cx="2796561" cy="2796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tos estructurados - Recetas de cocina para niños divertidas">
            <a:extLst>
              <a:ext uri="{FF2B5EF4-FFF2-40B4-BE49-F238E27FC236}">
                <a16:creationId xmlns:a16="http://schemas.microsoft.com/office/drawing/2014/main" id="{BF2B0AE6-17BB-49AD-8483-A536E2091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971" y="4555370"/>
            <a:ext cx="5106297" cy="1846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D596844-2C87-4ED1-BA07-E75CE8313B0A}"/>
              </a:ext>
            </a:extLst>
          </p:cNvPr>
          <p:cNvSpPr txBox="1"/>
          <p:nvPr/>
        </p:nvSpPr>
        <p:spPr>
          <a:xfrm>
            <a:off x="1407293" y="1095494"/>
            <a:ext cx="262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9E8DB28-29BC-4EE1-A38C-0F81813A2174}"/>
              </a:ext>
            </a:extLst>
          </p:cNvPr>
          <p:cNvSpPr txBox="1"/>
          <p:nvPr/>
        </p:nvSpPr>
        <p:spPr>
          <a:xfrm>
            <a:off x="5190564" y="1121258"/>
            <a:ext cx="262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Semi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C8686D-EB27-45DE-BEE6-025639E9F21B}"/>
              </a:ext>
            </a:extLst>
          </p:cNvPr>
          <p:cNvSpPr txBox="1"/>
          <p:nvPr/>
        </p:nvSpPr>
        <p:spPr>
          <a:xfrm>
            <a:off x="3502633" y="3937739"/>
            <a:ext cx="262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No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empresa podría utilizarse?</a:t>
            </a:r>
            <a:endParaRPr lang="en-US" sz="3200" dirty="0"/>
          </a:p>
        </p:txBody>
      </p:sp>
      <p:pic>
        <p:nvPicPr>
          <p:cNvPr id="3" name="Image 0" descr="/home/claude/deck/scene_empre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2052" name="Picture 4" descr="Edificio bancario">
            <a:extLst>
              <a:ext uri="{FF2B5EF4-FFF2-40B4-BE49-F238E27FC236}">
                <a16:creationId xmlns:a16="http://schemas.microsoft.com/office/drawing/2014/main" id="{369861D9-2C5F-46A5-8CA4-B8F608354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664913"/>
            <a:ext cx="1898279" cy="1423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endencias del comercio minorista en 2023">
            <a:extLst>
              <a:ext uri="{FF2B5EF4-FFF2-40B4-BE49-F238E27FC236}">
                <a16:creationId xmlns:a16="http://schemas.microsoft.com/office/drawing/2014/main" id="{358AB648-6E89-49AE-B1CB-8B10923A6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379" y="1664913"/>
            <a:ext cx="4883416" cy="227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ponsivo, Paginas Web, Páginas Web">
            <a:extLst>
              <a:ext uri="{FF2B5EF4-FFF2-40B4-BE49-F238E27FC236}">
                <a16:creationId xmlns:a16="http://schemas.microsoft.com/office/drawing/2014/main" id="{688A2A72-A72B-4A6E-903B-ADBC8DBC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670" y="4569943"/>
            <a:ext cx="3597835" cy="202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F18AD0A-CE1D-4295-A810-F6768B8A91AB}"/>
              </a:ext>
            </a:extLst>
          </p:cNvPr>
          <p:cNvSpPr txBox="1"/>
          <p:nvPr/>
        </p:nvSpPr>
        <p:spPr>
          <a:xfrm>
            <a:off x="839462" y="1308432"/>
            <a:ext cx="149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3479056-7895-492C-A113-71BC9A9277F0}"/>
              </a:ext>
            </a:extLst>
          </p:cNvPr>
          <p:cNvSpPr txBox="1"/>
          <p:nvPr/>
        </p:nvSpPr>
        <p:spPr>
          <a:xfrm>
            <a:off x="2731015" y="1276166"/>
            <a:ext cx="2020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Semi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9B245F8-E2B1-42CA-9B4E-F9A10B3960A6}"/>
              </a:ext>
            </a:extLst>
          </p:cNvPr>
          <p:cNvSpPr txBox="1"/>
          <p:nvPr/>
        </p:nvSpPr>
        <p:spPr>
          <a:xfrm>
            <a:off x="1063579" y="4104049"/>
            <a:ext cx="1828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No </a:t>
            </a:r>
            <a:r>
              <a:rPr lang="en-US" b="1" dirty="0" err="1">
                <a:solidFill>
                  <a:schemeClr val="tx2"/>
                </a:solidFill>
              </a:rPr>
              <a:t>Estructurados</a:t>
            </a:r>
            <a:endParaRPr lang="es-E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columnas o etiquetas</a:t>
            </a:r>
            <a:endParaRPr lang="en-US" sz="3200" dirty="0"/>
          </a:p>
        </p:txBody>
      </p:sp>
      <p:pic>
        <p:nvPicPr>
          <p:cNvPr id="3" name="Image 0" descr="/home/claude/deck/scene_colum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3074" name="Picture 2" descr="Columnas en Excel">
            <a:extLst>
              <a:ext uri="{FF2B5EF4-FFF2-40B4-BE49-F238E27FC236}">
                <a16:creationId xmlns:a16="http://schemas.microsoft.com/office/drawing/2014/main" id="{02A5C50C-51FC-4E9A-B928-19F9461E9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807" y="1917439"/>
            <a:ext cx="5762625" cy="34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aproximado de registros</a:t>
            </a:r>
            <a:endParaRPr lang="en-US" sz="3200" dirty="0"/>
          </a:p>
        </p:txBody>
      </p:sp>
      <p:pic>
        <p:nvPicPr>
          <p:cNvPr id="3" name="Image 0" descr="/home/claude/deck/scene_regist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4098" name="Picture 2" descr="Ejemplos de CONTAR.SI">
            <a:extLst>
              <a:ext uri="{FF2B5EF4-FFF2-40B4-BE49-F238E27FC236}">
                <a16:creationId xmlns:a16="http://schemas.microsoft.com/office/drawing/2014/main" id="{1D7DD080-EE43-43A4-BC78-7732EBC61C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419" y="1717862"/>
            <a:ext cx="4143375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numéricos</a:t>
            </a:r>
            <a:endParaRPr lang="en-US" sz="3200" dirty="0"/>
          </a:p>
        </p:txBody>
      </p:sp>
      <p:pic>
        <p:nvPicPr>
          <p:cNvPr id="3" name="Image 0" descr="/home/claude/deck/scene_numeri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4" name="Picture 2" descr="Columnas en Excel">
            <a:extLst>
              <a:ext uri="{FF2B5EF4-FFF2-40B4-BE49-F238E27FC236}">
                <a16:creationId xmlns:a16="http://schemas.microsoft.com/office/drawing/2014/main" id="{E61A3D3B-D4E6-48E5-8174-853BD8235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823197"/>
            <a:ext cx="3125219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n del área de valores de la lista de campos y los valores numéricos de la tabla dinámica.">
            <a:extLst>
              <a:ext uri="{FF2B5EF4-FFF2-40B4-BE49-F238E27FC236}">
                <a16:creationId xmlns:a16="http://schemas.microsoft.com/office/drawing/2014/main" id="{284725EA-D44F-4F8E-AFDD-7860DF21D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339" y="1823197"/>
            <a:ext cx="3462101" cy="39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Campos de texto</a:t>
            </a:r>
            <a:endParaRPr lang="en-US" sz="3200" dirty="0"/>
          </a:p>
        </p:txBody>
      </p:sp>
      <p:pic>
        <p:nvPicPr>
          <p:cNvPr id="3" name="Image 0" descr="/home/claude/deck/scene_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965960"/>
            <a:ext cx="3291840" cy="3291840"/>
          </a:xfrm>
          <a:prstGeom prst="rect">
            <a:avLst/>
          </a:prstGeom>
        </p:spPr>
      </p:pic>
      <p:pic>
        <p:nvPicPr>
          <p:cNvPr id="6146" name="Picture 2" descr="Leer valor del cuadro de texto">
            <a:extLst>
              <a:ext uri="{FF2B5EF4-FFF2-40B4-BE49-F238E27FC236}">
                <a16:creationId xmlns:a16="http://schemas.microsoft.com/office/drawing/2014/main" id="{E8E62AFA-5599-4629-BDCD-C1F118796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0238"/>
            <a:ext cx="5919626" cy="182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Posibles problemas de calidad de datos</a:t>
            </a:r>
            <a:endParaRPr lang="en-US" sz="3000" dirty="0"/>
          </a:p>
        </p:txBody>
      </p:sp>
      <p:pic>
        <p:nvPicPr>
          <p:cNvPr id="3" name="Image 0" descr="/home/claude/deck/scene_ca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34440"/>
            <a:ext cx="3566160" cy="3566160"/>
          </a:xfrm>
          <a:prstGeom prst="rect">
            <a:avLst/>
          </a:prstGeom>
        </p:spPr>
      </p:pic>
      <p:pic>
        <p:nvPicPr>
          <p:cNvPr id="7174" name="Picture 6" descr="Photo of stock">
            <a:extLst>
              <a:ext uri="{FF2B5EF4-FFF2-40B4-BE49-F238E27FC236}">
                <a16:creationId xmlns:a16="http://schemas.microsoft.com/office/drawing/2014/main" id="{C3B74420-A421-488C-B0E8-E3715A0CB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873063"/>
            <a:ext cx="6259158" cy="331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200" dirty="0"/>
          </a:p>
        </p:txBody>
      </p:sp>
      <p:pic>
        <p:nvPicPr>
          <p:cNvPr id="3" name="Image 0" descr="/home/claude/deck/scene_refer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237744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64" y="1325879"/>
            <a:ext cx="9309848" cy="456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Kimball, R., &amp; Ross, M. (2013). The data warehouse toolkit: The definitive guide to dimensional modeling (3rd ed.). Wiley.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Loshin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D. (2011). The practitioner's guide to data quality improvement. Morgan Kaufmann.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Provost, F., &amp; Fawcett, T. (2013). Data science for business: What you need to know about data mining and data-analytic thinking. O'Reilly Media.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Redman, T. C. (2008). Data driven: Profiting from your most important business asset. Harvard Business Review Press.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Gualo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F. (2024, 26 de diciembre). (Imagen) Errores comunes en la elaboración de una estrategia de datos. datos.gob.es. 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https://datos.gob.es/es/blog/errores-comunes-en-la-elaboracion-de-una-estrategia-de-datos</a:t>
            </a:r>
            <a:endParaRPr lang="es-ES" sz="12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Total. (2012, 31 de julio). (Imagen) Cuadro de texto en Excel. https://exceltotal.com/cuadro-de-texto-en-excel/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(2025). (Imagen) Usar la lista de campos para organizar los campos en una tabla dinámica. Soporte técnico de Microsoft. https://support.microsoft.com/es-ES/Excel/get-started/use-the-field-list-to-arrange-fields-in-a-pivottable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 (2025, 15 de diciembre). (Imagen) Formas de contar valores en una hoja de cálculo. Soporte técnico de Microsoft. https://support.microsoft.com/es-ES/Excel/ways-to-count-values-in-a-worksheet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TeFormas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(2024, 27 de junio). (Imagen) Columnas en Excel: Todo lo que necesitas saber. Teformas.com. https://teformas.com/office/excel/columnas-en-excel-todo-lo-que-necesitas-saber/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Pixabay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(s.f.). Página de web [Banco de imágenes]. Recuperado el 9 de julio de 2026, de https://pixabay.com/es/images/search/pagina%20de%20web/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Ania. (2023, 14 de marzo). (Imagen) Tendencias del comercio minorista en 2023. CAPS </a:t>
            </a: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https://caps-group.com/es/tendencias-del-commercio-minorista-en-2023/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Depositphotos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(s.f.). Bancos y financiero [Banco de imágenes]. Recuperado el 9 de julio de 2026, de https://depositphotos.com/es/photos/bancos-y-financiero.html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Ferreiro, F. (2019, 10 de septiembre). (Imagen) Datos estructurados. </a:t>
            </a: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Semrush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Blog. https://es.semrush.com/blog/datos-estructurados/</a:t>
            </a:r>
          </a:p>
          <a:p>
            <a:pPr>
              <a:spcAft>
                <a:spcPts val="600"/>
              </a:spcAft>
            </a:pPr>
            <a:r>
              <a:rPr lang="es-E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Fernandez</a:t>
            </a: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O. (2021, 11 de enero). (Imagen) Bases de datos relacionales y SQL - Introducción. Aprender Big Data. https://aprenderbigdata.com/bases-de-datos-relacionales/</a:t>
            </a: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Calvo, D. (2017, 21 de noviembre). (Imagen) Tipos de datos: estructurados, semiestructurados y no estructurados. Diego Calvo. https://www.diegocalvo.es/tipos-de-datos-estructurados-semiestructurados-y-no-estructurados/</a:t>
            </a:r>
          </a:p>
          <a:p>
            <a:pPr>
              <a:spcAft>
                <a:spcPts val="600"/>
              </a:spcAft>
            </a:pPr>
            <a:endParaRPr lang="en-US" sz="13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n-US" sz="1300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</a:pPr>
            <a:endParaRPr lang="en-US" sz="1300" dirty="0"/>
          </a:p>
          <a:p>
            <a:pPr marL="0" indent="0" algn="l">
              <a:spcAft>
                <a:spcPts val="600"/>
              </a:spcAft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615</Words>
  <Application>Microsoft Office PowerPoint</Application>
  <PresentationFormat>Panorámica</PresentationFormat>
  <Paragraphs>50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Efrain Sebastian Rojas Artavia</cp:lastModifiedBy>
  <cp:revision>6</cp:revision>
  <dcterms:created xsi:type="dcterms:W3CDTF">2026-07-09T23:15:37Z</dcterms:created>
  <dcterms:modified xsi:type="dcterms:W3CDTF">2026-07-10T00:19:46Z</dcterms:modified>
</cp:coreProperties>
</file>